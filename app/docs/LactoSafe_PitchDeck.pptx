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109728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17830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LACTOSAFE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926080" cy="5486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2697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Milk Adulteration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System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" y="34290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8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"Safe Milk, Scanned in Seconds 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C8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Lab. No Contact. No Compromise."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4206240"/>
            <a:ext cx="3017520" cy="502920"/>
          </a:xfrm>
          <a:prstGeom prst="rect">
            <a:avLst/>
          </a:prstGeom>
          <a:solidFill>
            <a:srgbClr val="00B4A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" y="4206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API AVENGERS  ·  HACKATHON 2025–26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38912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89120" y="8412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of milk in Rajasthan (2025) was found adulterated.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389120" y="13258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chemicals — urea, formalin, detergent — in every sip.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 billion people have no way to check.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43400" y="2103120"/>
            <a:ext cx="2651760" cy="914400"/>
          </a:xfrm>
          <a:prstGeom prst="rect">
            <a:avLst/>
          </a:prstGeom>
          <a:solidFill>
            <a:srgbClr val="1A3C6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34340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343400" y="26700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Adulterated — Rajasthan 2025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178040" y="2103120"/>
            <a:ext cx="1828800" cy="914400"/>
          </a:xfrm>
          <a:prstGeom prst="rect">
            <a:avLst/>
          </a:prstGeom>
          <a:solidFill>
            <a:srgbClr val="1A3C6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178040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₹21.3L Cr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7178040" y="26700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Dairy Market Value 2025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343400" y="3200400"/>
            <a:ext cx="2651760" cy="914400"/>
          </a:xfrm>
          <a:prstGeom prst="rect">
            <a:avLst/>
          </a:prstGeom>
          <a:solidFill>
            <a:srgbClr val="00B4A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343400" y="3246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sec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4343400" y="37673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LactoSafe Scan Time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178040" y="3200400"/>
            <a:ext cx="1828800" cy="914400"/>
          </a:xfrm>
          <a:prstGeom prst="rect">
            <a:avLst/>
          </a:prstGeom>
          <a:solidFill>
            <a:srgbClr val="00B4A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178040" y="3246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7178040" y="37673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Build Cost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3434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2025–26  ·  LactoSafe v1.0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LactoSafe  |  API Avengers  |  Hackathon 2025–26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686800" y="4983480"/>
            <a:ext cx="411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 — Milk Adulteration is a Public Health Emergency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45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dairy market is worth ₹21.3 lakh crore — yet millions consume toxic milk daily.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194560" cy="1371600"/>
          </a:xfrm>
          <a:prstGeom prst="rect">
            <a:avLst/>
          </a:prstGeom>
          <a:solidFill>
            <a:srgbClr val="E53E3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80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Rajasthan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adulterated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 survey)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1234440"/>
            <a:ext cx="2194560" cy="137160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1280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68.4%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74320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non-conformity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(2011–12 survey)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0640" y="1234440"/>
            <a:ext cx="2194560" cy="1371600"/>
          </a:xfrm>
          <a:prstGeom prst="rect">
            <a:avLst/>
          </a:prstGeom>
          <a:solidFill>
            <a:srgbClr val="1A3C6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1280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512064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Non-conformity 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unpasteurised samples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(2022–23)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0" y="1234440"/>
            <a:ext cx="1371600" cy="1371600"/>
          </a:xfrm>
          <a:prstGeom prst="rect">
            <a:avLst/>
          </a:prstGeom>
          <a:solidFill>
            <a:srgbClr val="00B4A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0" y="1280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49808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 2024–25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2788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ADULTERANTS FOUND IN INDIA: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2057400" cy="530352"/>
          </a:xfrm>
          <a:prstGeom prst="rect">
            <a:avLst/>
          </a:prstGeom>
          <a:solidFill>
            <a:srgbClr val="E0F7F6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04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Water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4290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fraud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0" y="3154680"/>
            <a:ext cx="2057400" cy="530352"/>
          </a:xfrm>
          <a:prstGeom prst="rect">
            <a:avLst/>
          </a:prstGeom>
          <a:solidFill>
            <a:srgbClr val="E0F7F6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32004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Urea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51760" y="34290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inflate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3154680"/>
            <a:ext cx="2057400" cy="530352"/>
          </a:xfrm>
          <a:prstGeom prst="rect">
            <a:avLst/>
          </a:prstGeom>
          <a:solidFill>
            <a:srgbClr val="E0F7F6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2004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🧴 Detergent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34290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Gastric damage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949440" y="3154680"/>
            <a:ext cx="2057400" cy="530352"/>
          </a:xfrm>
          <a:prstGeom prst="rect">
            <a:avLst/>
          </a:prstGeom>
          <a:solidFill>
            <a:srgbClr val="E0F7F6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32004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☠️ Formalin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040880" y="34290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Carcinogen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57400" cy="530352"/>
          </a:xfrm>
          <a:prstGeom prst="rect">
            <a:avLst/>
          </a:prstGeom>
          <a:solidFill>
            <a:srgbClr val="E0F7F6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7947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Starch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02336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SNF masking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0" y="3749040"/>
            <a:ext cx="2057400" cy="530352"/>
          </a:xfrm>
          <a:prstGeom prst="rect">
            <a:avLst/>
          </a:prstGeom>
          <a:solidFill>
            <a:srgbClr val="E0F7F6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51760" y="37947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⚗️ H₂O₂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651760" y="402336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Oxidative stress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0" y="3749040"/>
            <a:ext cx="2057400" cy="530352"/>
          </a:xfrm>
          <a:prstGeom prst="rect">
            <a:avLst/>
          </a:prstGeom>
          <a:solidFill>
            <a:srgbClr val="E0F7F6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7947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🥩 Foreign Fat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46320" y="402336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Hormonal disruption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949440" y="3749040"/>
            <a:ext cx="2057400" cy="530352"/>
          </a:xfrm>
          <a:prstGeom prst="rect">
            <a:avLst/>
          </a:prstGeom>
          <a:solidFill>
            <a:srgbClr val="E0F7F6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0" y="37947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🧂 Salt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040880" y="402336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masking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LactoSafe  |  API Avengers  |  Hackathon 2025–26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686800" y="4983480"/>
            <a:ext cx="411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 — Why Does Adulteration Persist?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45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651760" cy="384048"/>
          </a:xfrm>
          <a:prstGeom prst="rect">
            <a:avLst/>
          </a:prstGeom>
          <a:solidFill>
            <a:srgbClr val="1A3C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014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Incentive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9768" y="14173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margins from adulteration vastly outweigh the risk of getting caught. Low enforcement, high reward.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0" y="96012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960120"/>
            <a:ext cx="2651760" cy="384048"/>
          </a:xfrm>
          <a:prstGeom prst="rect">
            <a:avLst/>
          </a:prstGeom>
          <a:solidFill>
            <a:srgbClr val="1A3C6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0058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1014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Cold Chain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10128" y="14173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~66% of India's milk flows through unorganized vendors with zero cold-chain or quality testing infrastructure.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80760" y="96012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0760" y="960120"/>
            <a:ext cx="2651760" cy="384048"/>
          </a:xfrm>
          <a:prstGeom prst="rect">
            <a:avLst/>
          </a:prstGeom>
          <a:solidFill>
            <a:srgbClr val="1A3C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0584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37960" y="1014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Supply-Demand Gap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190488" y="14173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seasons drive fraudsters to expand volume using cheap chemicals to meet demand.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600200" y="260604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600200" y="2606040"/>
            <a:ext cx="2651760" cy="384048"/>
          </a:xfrm>
          <a:prstGeom prst="rect">
            <a:avLst/>
          </a:prstGeom>
          <a:solidFill>
            <a:srgbClr val="1A3C6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265176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057400" y="26609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Preservation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709928" y="3063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refrigeration, toxic preservatives like formalin and H₂O₂ replace proper cold storage.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480560" y="260604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80560" y="2606040"/>
            <a:ext cx="2651760" cy="384048"/>
          </a:xfrm>
          <a:prstGeom prst="rect">
            <a:avLst/>
          </a:prstGeom>
          <a:solidFill>
            <a:srgbClr val="1A3C6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65176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37760" y="26609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Awareness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90288" y="3063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and consumers lack the tools, knowledge, or access to detect adulteration at the source.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20040" y="4206240"/>
            <a:ext cx="8503920" cy="594360"/>
          </a:xfrm>
          <a:prstGeom prst="rect">
            <a:avLst/>
          </a:prstGeom>
          <a:solidFill>
            <a:srgbClr val="E0F7F6"/>
          </a:solidFill>
          <a:ln w="6350">
            <a:solidFill>
              <a:srgbClr val="00B4A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270248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68680" y="42245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Rajasthan (2025), the 'Doodh ka Doodh Pani ka Pani' public testing campaign was launched after investigations revealed 97% of samples were adulterated — 48.24% contained added water, 1.41% contained hazardous detergents.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LactoSafe  |  API Avengers  |  Hackathon 2025–26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8686800" y="4983480"/>
            <a:ext cx="411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Introducing LactoSafe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45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3840480" cy="4297680"/>
          </a:xfrm>
          <a:prstGeom prst="rect">
            <a:avLst/>
          </a:prstGeom>
          <a:solidFill>
            <a:srgbClr val="1A3C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1440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" y="2103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LACTOSAFE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1440" y="2633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Food Safety Laboratory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3063240"/>
            <a:ext cx="3291840" cy="54864"/>
          </a:xfrm>
          <a:prstGeom prst="rect">
            <a:avLst/>
          </a:prstGeom>
          <a:solidFill>
            <a:srgbClr val="00B4A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20040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32004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NIR — reads through the container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5643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" y="34564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8-second result — no waiting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71246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8640" y="371246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SafetyScore 0–100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968496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48640" y="396849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 build cost — accessible to all</a:t>
            </a:r>
            <a:endParaRPr lang="en-US" sz="9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4224528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48640" y="42245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7+ adulterants simultaneously</a:t>
            </a:r>
            <a:endParaRPr lang="en-US" sz="9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4480560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48640" y="44805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capable after model download</a:t>
            </a:r>
            <a:endParaRPr lang="en-US" sz="950" dirty="0"/>
          </a:p>
        </p:txBody>
      </p:sp>
      <p:sp>
        <p:nvSpPr>
          <p:cNvPr id="22" name="Text 13"/>
          <p:cNvSpPr/>
          <p:nvPr/>
        </p:nvSpPr>
        <p:spPr>
          <a:xfrm>
            <a:off x="4069080" y="777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LactoSafe?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4069080" y="11887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LactoSafe is a two-part system combining a low-cost NIR spectral sensor pod with an AI-powered mobile app. Together, they detect milk adulteration contactlessly — the sensor reads through the container wall without ever touching the milk.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4069080" y="2011680"/>
            <a:ext cx="2331720" cy="1463040"/>
          </a:xfrm>
          <a:prstGeom prst="rect">
            <a:avLst/>
          </a:prstGeom>
          <a:solidFill>
            <a:srgbClr val="E0F7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4069080" y="2011680"/>
            <a:ext cx="2331720" cy="411480"/>
          </a:xfrm>
          <a:prstGeom prst="rect">
            <a:avLst/>
          </a:prstGeom>
          <a:solidFill>
            <a:srgbClr val="00B4A6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0520" y="2066544"/>
            <a:ext cx="292608" cy="29260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526280" y="20848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MilkGuard Pod</a:t>
            </a:r>
            <a:endParaRPr lang="en-US" sz="1100" dirty="0"/>
          </a:p>
        </p:txBody>
      </p:sp>
      <p:sp>
        <p:nvSpPr>
          <p:cNvPr id="28" name="Text 18"/>
          <p:cNvSpPr/>
          <p:nvPr/>
        </p:nvSpPr>
        <p:spPr>
          <a:xfrm>
            <a:off x="4160520" y="248716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Palm-sized NIR scanner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18-channel AS7265x sensor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4.2 connectivity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₹2,100 build cost</a:t>
            </a:r>
            <a:endParaRPr lang="en-US" sz="950" dirty="0"/>
          </a:p>
        </p:txBody>
      </p:sp>
      <p:sp>
        <p:nvSpPr>
          <p:cNvPr id="29" name="Shape 19"/>
          <p:cNvSpPr/>
          <p:nvPr/>
        </p:nvSpPr>
        <p:spPr>
          <a:xfrm>
            <a:off x="6583680" y="2011680"/>
            <a:ext cx="2331720" cy="1463040"/>
          </a:xfrm>
          <a:prstGeom prst="rect">
            <a:avLst/>
          </a:prstGeom>
          <a:solidFill>
            <a:srgbClr val="EEF4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6583680" y="2011680"/>
            <a:ext cx="2331720" cy="411480"/>
          </a:xfrm>
          <a:prstGeom prst="rect">
            <a:avLst/>
          </a:prstGeom>
          <a:solidFill>
            <a:srgbClr val="1A3C6E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0" y="2066544"/>
            <a:ext cx="292608" cy="29260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040880" y="20848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LactoSafe App</a:t>
            </a:r>
            <a:endParaRPr lang="en-US" sz="1100" dirty="0"/>
          </a:p>
        </p:txBody>
      </p:sp>
      <p:sp>
        <p:nvSpPr>
          <p:cNvPr id="33" name="Text 22"/>
          <p:cNvSpPr/>
          <p:nvPr/>
        </p:nvSpPr>
        <p:spPr>
          <a:xfrm>
            <a:off x="6675120" y="248716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powerful modules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SafetyScore engine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VendorMap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reporting bridge</a:t>
            </a:r>
            <a:endParaRPr lang="en-US" sz="950" dirty="0"/>
          </a:p>
        </p:txBody>
      </p:sp>
      <p:sp>
        <p:nvSpPr>
          <p:cNvPr id="34" name="Shape 23"/>
          <p:cNvSpPr/>
          <p:nvPr/>
        </p:nvSpPr>
        <p:spPr>
          <a:xfrm>
            <a:off x="4069080" y="3657600"/>
            <a:ext cx="4846320" cy="640080"/>
          </a:xfrm>
          <a:prstGeom prst="rect">
            <a:avLst/>
          </a:prstGeom>
          <a:solidFill>
            <a:srgbClr val="1A3C6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24"/>
          <p:cNvSpPr/>
          <p:nvPr/>
        </p:nvSpPr>
        <p:spPr>
          <a:xfrm>
            <a:off x="4160520" y="3703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Exceeds FSSAI 2025–26 MilkTrak Mandate — detects all 8 mandated adulterants simultaneously in 8 seconds with automatic regulatory reporting.</a:t>
            </a:r>
            <a:endParaRPr lang="en-US" sz="950" dirty="0"/>
          </a:p>
        </p:txBody>
      </p:sp>
      <p:sp>
        <p:nvSpPr>
          <p:cNvPr id="36" name="Shap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LactoSafe  |  API Avengers  |  Hackathon 2025–26</a:t>
            </a:r>
            <a:endParaRPr lang="en-US" sz="800" dirty="0"/>
          </a:p>
        </p:txBody>
      </p:sp>
      <p:sp>
        <p:nvSpPr>
          <p:cNvPr id="38" name="Text 27"/>
          <p:cNvSpPr/>
          <p:nvPr/>
        </p:nvSpPr>
        <p:spPr>
          <a:xfrm>
            <a:off x="8686800" y="4983480"/>
            <a:ext cx="411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Scan. Detect. Act. In 8 Seconds.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45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920240" cy="1600200"/>
          </a:xfrm>
          <a:prstGeom prst="rect">
            <a:avLst/>
          </a:prstGeom>
          <a:solidFill>
            <a:srgbClr val="1A3C6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332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 Light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562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Shone at milk through container wall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67712" y="1709928"/>
            <a:ext cx="173736" cy="91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960120"/>
            <a:ext cx="1920240" cy="1600200"/>
          </a:xfrm>
          <a:prstGeom prst="rect">
            <a:avLst/>
          </a:prstGeom>
          <a:solidFill>
            <a:srgbClr val="134F9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0332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18-Channel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8562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AS7265x captures spectral data (410–940nm)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16552" y="1709928"/>
            <a:ext cx="173736" cy="91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960120"/>
            <a:ext cx="1920240" cy="1600200"/>
          </a:xfrm>
          <a:prstGeom prst="rect">
            <a:avLst/>
          </a:prstGeom>
          <a:solidFill>
            <a:srgbClr val="1A3C6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0332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0916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18562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 preprocesses signal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65392" y="1709928"/>
            <a:ext cx="173736" cy="91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960120"/>
            <a:ext cx="1920240" cy="1600200"/>
          </a:xfrm>
          <a:prstGeom prst="rect">
            <a:avLst/>
          </a:prstGeom>
          <a:solidFill>
            <a:srgbClr val="134F9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10332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5800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18562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 to mobile app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880360"/>
            <a:ext cx="1920240" cy="1600200"/>
          </a:xfrm>
          <a:prstGeom prst="rect">
            <a:avLst/>
          </a:prstGeom>
          <a:solidFill>
            <a:srgbClr val="1A3C6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" y="2953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1148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37764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against adulterant fingerprint library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67712" y="3630168"/>
            <a:ext cx="173736" cy="91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68880" y="2880360"/>
            <a:ext cx="1920240" cy="1600200"/>
          </a:xfrm>
          <a:prstGeom prst="rect">
            <a:avLst/>
          </a:prstGeom>
          <a:solidFill>
            <a:srgbClr val="134F9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468880" y="2953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256032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60320" y="37764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 per adulterant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16552" y="3630168"/>
            <a:ext cx="173736" cy="91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2880360"/>
            <a:ext cx="1920240" cy="1600200"/>
          </a:xfrm>
          <a:prstGeom prst="rect">
            <a:avLst/>
          </a:prstGeom>
          <a:solidFill>
            <a:srgbClr val="1A3C6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17720" y="2953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470916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09160" y="37764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against legal limits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565392" y="3630168"/>
            <a:ext cx="173736" cy="91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560" y="2880360"/>
            <a:ext cx="1920240" cy="1600200"/>
          </a:xfrm>
          <a:prstGeom prst="rect">
            <a:avLst/>
          </a:prstGeom>
          <a:solidFill>
            <a:srgbClr val="00B4A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766560" y="2953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85800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58000" y="37764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displayed instantly in app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E0F7F6"/>
          </a:solidFill>
          <a:ln/>
        </p:spPr>
      </p:sp>
      <p:sp>
        <p:nvSpPr>
          <p:cNvPr id="44" name="Text 42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Each adulterant creates a unique spectral 'fingerprint' — the sensor reads this chemical barcode through the container, no contact needed.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LactoSafe  |  API Avengers  |  Hackathon 2025–26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686800" y="4983480"/>
            <a:ext cx="411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 — NIR Spectral Fingerprints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45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chemical compound absorbs light at specific wavelengths — creating a unique spectral fingerprint. LactoSafe reads this fingerprint through the container wall.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2651760"/>
        </p:xfrm>
        <a:graphic>
          <a:graphicData uri="http://schemas.openxmlformats.org/drawingml/2006/table">
            <a:tbl>
              <a:tblPr/>
              <a:tblGrid>
                <a:gridCol w="1600200"/>
                <a:gridCol w="1508760"/>
                <a:gridCol w="2240280"/>
                <a:gridCol w="22402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Adulterant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Wavelength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Change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💧 Water Dilution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760nm, 970nm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O-H bond absorption increases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Pathogen contamination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🧪 Urea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520nm, 1520nm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N-H bond unique peak appears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Kidney disease (CKD)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🧴 Detergent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485–535nm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Surfactant light scattering spike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Gastric mucosa erosion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🌾 Starch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600nm, 800nm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C-O-H bond reflection bump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Masks dilution, malnutrition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☠️ Formalin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750nm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C=O bond absorption anomaly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Liver &amp; kidney cancer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⚗️ Hydrogen Peroxide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NIR pattern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Oxidation signature detected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Gastrointestinal inflammation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🥩 Foreign Fat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930nm, 1720nm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C-H lipid abnormal fat band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Hormonal disruption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069080"/>
            <a:ext cx="4114800" cy="731520"/>
          </a:xfrm>
          <a:prstGeom prst="rect">
            <a:avLst/>
          </a:prstGeom>
          <a:solidFill>
            <a:srgbClr val="EEF4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Calibration — Blank Subtraction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3708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places empty cup → sensor reads baseline → baseline subtracted from milk scan → only milk's spectral signature remains. Takes 3 seconds.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63440" y="4069080"/>
            <a:ext cx="4160520" cy="731520"/>
          </a:xfrm>
          <a:prstGeom prst="rect">
            <a:avLst/>
          </a:prstGeom>
          <a:solidFill>
            <a:srgbClr val="E0F7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00600" y="4114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Container Compatibility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00600" y="43708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Clear glass  ✅ Clear plastic  ✅ Small vials  ❌ Stainless steel  ❌ Opaque plastic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Free transparent plastic cup bundled with every Pod — 20ml milk is all needed.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LactoSafe  |  API Avengers  |  Hackathon 2025–26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686800" y="4983480"/>
            <a:ext cx="411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FEATURES — 6 Powerful Modules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45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2697480" cy="457200"/>
          </a:xfrm>
          <a:prstGeom prst="rect">
            <a:avLst/>
          </a:prstGeom>
          <a:solidFill>
            <a:srgbClr val="00B4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" y="1005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InstaScan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9768" y="1444752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scan engine. Bluetooth auto-pairing, 8-sec spectral scan, adulterant result card, FSSAI one-tap report, offline mode.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0" y="91440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914400"/>
            <a:ext cx="2697480" cy="457200"/>
          </a:xfrm>
          <a:prstGeom prst="rect">
            <a:avLst/>
          </a:prstGeom>
          <a:solidFill>
            <a:srgbClr val="1A3C6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0058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1005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SafetyScore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10128" y="1444752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score 0–100. Green (85–100), Yellow (60–84), Orange (30–59), Red (0–29). Shows confidence % per adulterant.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80760" y="91440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0760" y="914400"/>
            <a:ext cx="2697480" cy="45720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0584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19672" y="1005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VendorMap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90488" y="1444752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community heatmap. Green = trusted vendors, Red = adulterators. Nearest safe milk finder. Anonymous reporting.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20040" y="278892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2788920"/>
            <a:ext cx="2697480" cy="457200"/>
          </a:xfrm>
          <a:prstGeom prst="rect">
            <a:avLst/>
          </a:prstGeom>
          <a:solidFill>
            <a:srgbClr val="5B21B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88036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8952" y="2880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History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29768" y="3319272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safety diary. 'You consumed adulterated milk 3x this month.' Vendor trust scores. Children's exposure tracker.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00400" y="278892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0" y="2788920"/>
            <a:ext cx="2697480" cy="457200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288036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639312" y="2880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EduGuard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310128" y="3319272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explainers, DART home test guides, school quiz mode, area outbreak push alerts.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080760" y="278892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80760" y="2788920"/>
            <a:ext cx="2697480" cy="457200"/>
          </a:xfrm>
          <a:prstGeom prst="rect">
            <a:avLst/>
          </a:prstGeom>
          <a:solidFill>
            <a:srgbClr val="E53E3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88036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519672" y="2880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AuthorityConnect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190488" y="3319272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FSSAI bridge. Complaint status tracker, Food Safety on Wheels van locator, helpline 1800-112-100.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LactoSafe  |  API Avengers  |  Hackathon 2025–26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8686800" y="4983480"/>
            <a:ext cx="411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— How SafetyScore 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45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1417320" cy="1005840"/>
          </a:xfrm>
          <a:prstGeom prst="rect">
            <a:avLst/>
          </a:prstGeom>
          <a:solidFill>
            <a:srgbClr val="00B4A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144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3075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5636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Detection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0" y="1143000"/>
            <a:ext cx="182880" cy="0"/>
          </a:xfrm>
          <a:prstGeom prst="rect">
            <a:avLst/>
          </a:prstGeom>
          <a:noFill/>
          <a:ln w="19050">
            <a:solidFill>
              <a:srgbClr val="00B4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74520" y="868680"/>
            <a:ext cx="694944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74520" y="868680"/>
            <a:ext cx="64008" cy="10058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94183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Detection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123444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Pre-programmed fixed threshold rules applied before ML. IF absorption at 760nm &gt; 0.91 → Flag: Water Dilution. Catches obvious cases instantly.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029968"/>
            <a:ext cx="1417320" cy="1005840"/>
          </a:xfrm>
          <a:prstGeom prst="rect">
            <a:avLst/>
          </a:prstGeom>
          <a:solidFill>
            <a:srgbClr val="1A3C6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20756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2468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SVM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27249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0" y="2304288"/>
            <a:ext cx="182880" cy="0"/>
          </a:xfrm>
          <a:prstGeom prst="rect">
            <a:avLst/>
          </a:prstGeom>
          <a:noFill/>
          <a:ln w="19050">
            <a:solidFill>
              <a:srgbClr val="1A3C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74520" y="2029968"/>
            <a:ext cx="694944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74520" y="2029968"/>
            <a:ext cx="64008" cy="100584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21" name="Text 19"/>
          <p:cNvSpPr/>
          <p:nvPr/>
        </p:nvSpPr>
        <p:spPr>
          <a:xfrm>
            <a:off x="2011680" y="21031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11680" y="2395728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10,000+ NIR spectral samples. Detects combinations of adulterants simultaneously (e.g. water + urea together). Returns adulterant class + confidence %.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191256"/>
            <a:ext cx="1417320" cy="10058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" y="32369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" y="36301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" y="38862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Estimator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0" y="3465576"/>
            <a:ext cx="182880" cy="0"/>
          </a:xfrm>
          <a:prstGeom prst="rect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74520" y="3191256"/>
            <a:ext cx="694944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74520" y="3191256"/>
            <a:ext cx="64008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2011680" y="326440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Estimator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011680" y="3557016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adulterant concentration by reading absorption peak depth. Compares against FSSAI legal limits. Example: Urea 0.12% detected vs limit 0.07% → Exceeds by 71%.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0040" y="4462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SAFETYSCORE TIERS: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4709160"/>
            <a:ext cx="2011680" cy="274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709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85–100  Pure &amp; Safe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68880" y="4709160"/>
            <a:ext cx="201168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2468880" y="4709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60–84  Minor Issues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17720" y="4709160"/>
            <a:ext cx="2011680" cy="274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8" name="Text 36"/>
          <p:cNvSpPr/>
          <p:nvPr/>
        </p:nvSpPr>
        <p:spPr>
          <a:xfrm>
            <a:off x="4617720" y="4709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30–59  Adulterated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66560" y="4709160"/>
            <a:ext cx="2011680" cy="2743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40" name="Text 38"/>
          <p:cNvSpPr/>
          <p:nvPr/>
        </p:nvSpPr>
        <p:spPr>
          <a:xfrm>
            <a:off x="6766560" y="4709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0–29  Hazardous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LactoSafe  |  API Avengers  |  Hackathon 2025–26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686800" y="4983480"/>
            <a:ext cx="411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— Hardware &amp; Software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45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14800" cy="4069080"/>
          </a:xfrm>
          <a:prstGeom prst="rect">
            <a:avLst/>
          </a:prstGeom>
          <a:solidFill>
            <a:srgbClr val="EEF4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4114800" cy="411480"/>
          </a:xfrm>
          <a:prstGeom prst="rect">
            <a:avLst/>
          </a:prstGeom>
          <a:solidFill>
            <a:srgbClr val="1A3C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50392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86868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— MilkGuard Pod  (~₹2,100)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1353312"/>
            <a:ext cx="39319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399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AS7265x NIR Sensor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15727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18-ch, 410–940nm, reads through glass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611880" y="14447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" y="1828800"/>
            <a:ext cx="3931920" cy="420624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1874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MCU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02920" y="20482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4.2 + WiFi, signal processing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611880" y="1920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₹400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11480" y="2304288"/>
            <a:ext cx="39319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23500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Ring Light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2920" y="25237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NIR light source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611880" y="23957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₹150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11480" y="2779776"/>
            <a:ext cx="3931920" cy="420624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" y="28254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 Battery 500mAh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02920" y="29992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scans per full charge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611880" y="28712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₹300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11480" y="3255264"/>
            <a:ext cx="39319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33009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Printed ABS Housing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02920" y="34747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Cylindrical cradle, 3D-printed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11880" y="33467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₹250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11480" y="3730752"/>
            <a:ext cx="3931920" cy="420624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37764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 + PCB + Assembly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02920" y="39502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Charging, connectors, wiring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611880" y="38221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₹300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11480" y="4242816"/>
            <a:ext cx="3931920" cy="41148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BUILD COST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063240" y="42793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₹2,100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4663440" y="804672"/>
            <a:ext cx="4206240" cy="4069080"/>
          </a:xfrm>
          <a:prstGeom prst="rect">
            <a:avLst/>
          </a:prstGeom>
          <a:solidFill>
            <a:srgbClr val="E0F7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663440" y="804672"/>
            <a:ext cx="4206240" cy="411480"/>
          </a:xfrm>
          <a:prstGeom prst="rect">
            <a:avLst/>
          </a:prstGeom>
          <a:solidFill>
            <a:srgbClr val="00B4A6"/>
          </a:solidFill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50392"/>
            <a:ext cx="301752" cy="30175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120640" y="868680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4754880" y="1316736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846320" y="1362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Frontend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4846320" y="16184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(Android &amp; iOS) · Google Maps API · Bluetooth LE integration · Offline-first architecture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4754880" y="2167128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846320" y="2212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AI / ML Engine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4846320" y="2468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Rule-based threshold detection · Layer 2: Random Forest / SVM Classifier (10K+ samples) · Layer 3: Regression Concentration Estimator · Federated learning for continuous improvement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4754880" y="3017520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846320" y="3063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Backend &amp; Cloud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4846320" y="33192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inference API · Federated learning pipeline (privacy-safe) · FSSAI reporting API bridge · Real-time heatmap data sync</a:t>
            </a:r>
            <a:endParaRPr lang="en-US" sz="850" dirty="0"/>
          </a:p>
        </p:txBody>
      </p:sp>
      <p:sp>
        <p:nvSpPr>
          <p:cNvPr id="49" name="Shape 45"/>
          <p:cNvSpPr/>
          <p:nvPr/>
        </p:nvSpPr>
        <p:spPr>
          <a:xfrm>
            <a:off x="4754880" y="3867912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B2DFDB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846320" y="39136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Training Data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4846320" y="41696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USDA NIR dairy datasets · EU food safety lab spectral data · Published NIR milk spectroscopy research · In-lab calibration scans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LactoSafe  |  API Avengers  |  Hackathon 2025–26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8686800" y="4983480"/>
            <a:ext cx="411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COMPARISON — Why LactoSafe Wins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45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consumer solution combines contactless NIR, AI scoring, community mapping, and regulatory reporting.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70432"/>
          <a:ext cx="8503920" cy="3611880"/>
        </p:xfrm>
        <a:graphic>
          <a:graphicData uri="http://schemas.openxmlformats.org/drawingml/2006/table">
            <a:tbl>
              <a:tblPr/>
              <a:tblGrid>
                <a:gridCol w="1965960"/>
                <a:gridCol w="1691640"/>
                <a:gridCol w="1371600"/>
                <a:gridCol w="1508760"/>
                <a:gridCol w="16916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🏆 LactoSafe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🧪 Lab Testing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📋 Test Strips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🥛 Lactometer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Contactless Scan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5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5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⚡ 8 sec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⏳ 24–48 hr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⏱ 5–10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🕐 1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Adulterants Detected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5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7+ types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10+ (lab)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AI-Powered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5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Portable / Pocket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5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Concentration Est.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5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FSSAI Auto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5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Mapping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5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5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 (post-pod)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₹500+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₹50/strip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₹200 device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Capable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65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LactoSafe  |  API Avengers  |  Hackathon 2025–26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686800" y="4983480"/>
            <a:ext cx="411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IMPACT — The Lives at Stake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45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not a product. It's a shield."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20116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2011680" cy="65836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3350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👶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719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Infants &amp; Toddlers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9768" y="2048256"/>
            <a:ext cx="1792224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048256"/>
            <a:ext cx="54864" cy="53035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04825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Protein-energy malnutrition (PEM)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" y="2642616"/>
            <a:ext cx="1792224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" y="2642616"/>
            <a:ext cx="54864" cy="53035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264261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Stunted physical growth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" y="3236976"/>
            <a:ext cx="1792224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" y="3236976"/>
            <a:ext cx="54864" cy="53035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323697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IQ reduction from lead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9768" y="3831336"/>
            <a:ext cx="1792224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" y="3831336"/>
            <a:ext cx="54864" cy="53035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383133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Developmental disorders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68880" y="1298448"/>
            <a:ext cx="20116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68880" y="1298448"/>
            <a:ext cx="2011680" cy="6583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2468880" y="13350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468880" y="1719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Children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78608" y="2048256"/>
            <a:ext cx="1792224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78608" y="2048256"/>
            <a:ext cx="54864" cy="5303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2670048" y="204825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developmental milestones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78608" y="2642616"/>
            <a:ext cx="1792224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78608" y="2642616"/>
            <a:ext cx="54864" cy="5303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2670048" y="264261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disorders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78608" y="3236976"/>
            <a:ext cx="1792224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78608" y="3236976"/>
            <a:ext cx="54864" cy="5303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2670048" y="323697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stress from urea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78608" y="3831336"/>
            <a:ext cx="1792224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78608" y="3831336"/>
            <a:ext cx="54864" cy="5303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2670048" y="383133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metal accumulation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17720" y="1298448"/>
            <a:ext cx="20116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17720" y="1298448"/>
            <a:ext cx="2011680" cy="658368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40" name="Text 38"/>
          <p:cNvSpPr/>
          <p:nvPr/>
        </p:nvSpPr>
        <p:spPr>
          <a:xfrm>
            <a:off x="4617720" y="13350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4617720" y="1719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27448" y="2048256"/>
            <a:ext cx="1792224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27448" y="2048256"/>
            <a:ext cx="54864" cy="530352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44" name="Text 42"/>
          <p:cNvSpPr/>
          <p:nvPr/>
        </p:nvSpPr>
        <p:spPr>
          <a:xfrm>
            <a:off x="4818888" y="204825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gastritis &amp; ulcers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27448" y="2642616"/>
            <a:ext cx="1792224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27448" y="2642616"/>
            <a:ext cx="54864" cy="530352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47" name="Text 45"/>
          <p:cNvSpPr/>
          <p:nvPr/>
        </p:nvSpPr>
        <p:spPr>
          <a:xfrm>
            <a:off x="4818888" y="264261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Gastrointestinal cancers (formalin)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27448" y="3236976"/>
            <a:ext cx="1792224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27448" y="3236976"/>
            <a:ext cx="54864" cy="530352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50" name="Text 48"/>
          <p:cNvSpPr/>
          <p:nvPr/>
        </p:nvSpPr>
        <p:spPr>
          <a:xfrm>
            <a:off x="4818888" y="323697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kidney disease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27448" y="3831336"/>
            <a:ext cx="1792224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27448" y="3831336"/>
            <a:ext cx="54864" cy="530352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53" name="Text 51"/>
          <p:cNvSpPr/>
          <p:nvPr/>
        </p:nvSpPr>
        <p:spPr>
          <a:xfrm>
            <a:off x="4818888" y="383133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Oxidative stress from H₂O₂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766560" y="1298448"/>
            <a:ext cx="20116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766560" y="1298448"/>
            <a:ext cx="2011680" cy="658368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56" name="Text 54"/>
          <p:cNvSpPr/>
          <p:nvPr/>
        </p:nvSpPr>
        <p:spPr>
          <a:xfrm>
            <a:off x="6766560" y="13350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👴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6766560" y="1719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876288" y="2048256"/>
            <a:ext cx="1792224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76288" y="2048256"/>
            <a:ext cx="54864" cy="53035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60" name="Text 58"/>
          <p:cNvSpPr/>
          <p:nvPr/>
        </p:nvSpPr>
        <p:spPr>
          <a:xfrm>
            <a:off x="6967728" y="204825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organ failure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876288" y="2642616"/>
            <a:ext cx="1792224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76288" y="2642616"/>
            <a:ext cx="54864" cy="53035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63" name="Text 61"/>
          <p:cNvSpPr/>
          <p:nvPr/>
        </p:nvSpPr>
        <p:spPr>
          <a:xfrm>
            <a:off x="6967728" y="264261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demineralization (cadmium)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876288" y="3236976"/>
            <a:ext cx="1792224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76288" y="3236976"/>
            <a:ext cx="54864" cy="53035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66" name="Text 64"/>
          <p:cNvSpPr/>
          <p:nvPr/>
        </p:nvSpPr>
        <p:spPr>
          <a:xfrm>
            <a:off x="6967728" y="323697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nervous system damage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876288" y="3831336"/>
            <a:ext cx="1792224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76288" y="3831336"/>
            <a:ext cx="54864" cy="53035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69" name="Text 67"/>
          <p:cNvSpPr/>
          <p:nvPr/>
        </p:nvSpPr>
        <p:spPr>
          <a:xfrm>
            <a:off x="6967728" y="383133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71" name="Text 69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 food fraud cases filed nationally in 2024–25  ·  3× increase from previous cycle  ·  NO safe lead level exists for children (CDC 2023)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LactoSafe  |  API Avengers  |  Hackathon 2025–26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8686800" y="4983480"/>
            <a:ext cx="411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— Multiple Revenue Channels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45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86968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86968"/>
            <a:ext cx="4160520" cy="457200"/>
          </a:xfrm>
          <a:prstGeom prst="rect">
            <a:avLst/>
          </a:prstGeom>
          <a:solidFill>
            <a:srgbClr val="1A3C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7840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9784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Sales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53896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" y="14538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Pod — ₹2,500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28216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4088" y="172821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Unit — ₹15,000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02536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4088" y="200253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Vending — ₹45,000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276856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4088" y="227685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Fridge OEM — TBD</a:t>
            </a:r>
            <a:endParaRPr lang="en-US" sz="1000" dirty="0"/>
          </a:p>
        </p:txBody>
      </p:sp>
      <p:sp>
        <p:nvSpPr>
          <p:cNvPr id="17" name="Shape 10"/>
          <p:cNvSpPr/>
          <p:nvPr/>
        </p:nvSpPr>
        <p:spPr>
          <a:xfrm>
            <a:off x="4709160" y="886968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709160" y="886968"/>
            <a:ext cx="4160520" cy="457200"/>
          </a:xfrm>
          <a:prstGeom prst="rect">
            <a:avLst/>
          </a:prstGeom>
          <a:solidFill>
            <a:srgbClr val="00B4A6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978408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166360" y="9784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Subscription</a:t>
            </a:r>
            <a:endParaRPr lang="en-US" sz="13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1453896"/>
            <a:ext cx="182880" cy="1828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093208" y="14538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Free: 5 scans/month</a:t>
            </a:r>
            <a:endParaRPr lang="en-US" sz="10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1728216"/>
            <a:ext cx="182880" cy="18288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093208" y="172821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Plan: ₹99/month</a:t>
            </a:r>
            <a:endParaRPr lang="en-US" sz="10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2002536"/>
            <a:ext cx="182880" cy="18288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093208" y="200253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Diary &amp; Alerts</a:t>
            </a:r>
            <a:endParaRPr lang="en-US" sz="10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2276856"/>
            <a:ext cx="182880" cy="18288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093208" y="227685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000" dirty="0"/>
          </a:p>
        </p:txBody>
      </p:sp>
      <p:sp>
        <p:nvSpPr>
          <p:cNvPr id="29" name="Shape 17"/>
          <p:cNvSpPr/>
          <p:nvPr/>
        </p:nvSpPr>
        <p:spPr>
          <a:xfrm>
            <a:off x="320040" y="2807208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18"/>
          <p:cNvSpPr/>
          <p:nvPr/>
        </p:nvSpPr>
        <p:spPr>
          <a:xfrm>
            <a:off x="320040" y="2807208"/>
            <a:ext cx="4160520" cy="4572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480" y="2898648"/>
            <a:ext cx="274320" cy="27432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777240" y="28986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Licensing</a:t>
            </a:r>
            <a:endParaRPr lang="en-US" sz="13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3374136"/>
            <a:ext cx="182880" cy="18288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704088" y="337413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brand clean-label kit</a:t>
            </a:r>
            <a:endParaRPr lang="en-US" sz="100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3648456"/>
            <a:ext cx="182880" cy="182880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704088" y="364845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kiosk license</a:t>
            </a:r>
            <a:endParaRPr lang="en-US" sz="100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3922776"/>
            <a:ext cx="182880" cy="182880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704088" y="392277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SDK</a:t>
            </a:r>
            <a:endParaRPr lang="en-US" sz="1000" dirty="0"/>
          </a:p>
        </p:txBody>
      </p:sp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4197096"/>
            <a:ext cx="182880" cy="182880"/>
          </a:xfrm>
          <a:prstGeom prst="rect">
            <a:avLst/>
          </a:prstGeom>
        </p:spPr>
      </p:pic>
      <p:sp>
        <p:nvSpPr>
          <p:cNvPr id="40" name="Text 23"/>
          <p:cNvSpPr/>
          <p:nvPr/>
        </p:nvSpPr>
        <p:spPr>
          <a:xfrm>
            <a:off x="704088" y="41970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wellness packs</a:t>
            </a:r>
            <a:endParaRPr lang="en-US" sz="1000" dirty="0"/>
          </a:p>
        </p:txBody>
      </p:sp>
      <p:sp>
        <p:nvSpPr>
          <p:cNvPr id="41" name="Shape 24"/>
          <p:cNvSpPr/>
          <p:nvPr/>
        </p:nvSpPr>
        <p:spPr>
          <a:xfrm>
            <a:off x="4709160" y="2807208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25"/>
          <p:cNvSpPr/>
          <p:nvPr/>
        </p:nvSpPr>
        <p:spPr>
          <a:xfrm>
            <a:off x="4709160" y="2807208"/>
            <a:ext cx="4160520" cy="457200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00600" y="2898648"/>
            <a:ext cx="274320" cy="27432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5166360" y="28986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Insights</a:t>
            </a:r>
            <a:endParaRPr lang="en-US" sz="130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46320" y="3374136"/>
            <a:ext cx="182880" cy="182880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5093208" y="337413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heatmap licensing</a:t>
            </a:r>
            <a:endParaRPr lang="en-US" sz="1000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46320" y="3648456"/>
            <a:ext cx="182880" cy="182880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5093208" y="364845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intelligence reports</a:t>
            </a:r>
            <a:endParaRPr lang="en-US" sz="1000" dirty="0"/>
          </a:p>
        </p:txBody>
      </p:sp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46320" y="3922776"/>
            <a:ext cx="182880" cy="182880"/>
          </a:xfrm>
          <a:prstGeom prst="rect">
            <a:avLst/>
          </a:prstGeom>
        </p:spPr>
      </p:pic>
      <p:sp>
        <p:nvSpPr>
          <p:cNvPr id="50" name="Text 29"/>
          <p:cNvSpPr/>
          <p:nvPr/>
        </p:nvSpPr>
        <p:spPr>
          <a:xfrm>
            <a:off x="5093208" y="392277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&amp; research datasets</a:t>
            </a:r>
            <a:endParaRPr lang="en-US" sz="1000" dirty="0"/>
          </a:p>
        </p:txBody>
      </p:sp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6320" y="4197096"/>
            <a:ext cx="182880" cy="182880"/>
          </a:xfrm>
          <a:prstGeom prst="rect">
            <a:avLst/>
          </a:prstGeom>
        </p:spPr>
      </p:pic>
      <p:sp>
        <p:nvSpPr>
          <p:cNvPr id="52" name="Text 30"/>
          <p:cNvSpPr/>
          <p:nvPr/>
        </p:nvSpPr>
        <p:spPr>
          <a:xfrm>
            <a:off x="5093208" y="41970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risk profiling</a:t>
            </a:r>
            <a:endParaRPr lang="en-US" sz="1000" dirty="0"/>
          </a:p>
        </p:txBody>
      </p:sp>
      <p:sp>
        <p:nvSpPr>
          <p:cNvPr id="53" name="Shape 31"/>
          <p:cNvSpPr/>
          <p:nvPr/>
        </p:nvSpPr>
        <p:spPr>
          <a:xfrm>
            <a:off x="0" y="4754880"/>
            <a:ext cx="9144000" cy="228600"/>
          </a:xfrm>
          <a:prstGeom prst="rect">
            <a:avLst/>
          </a:prstGeom>
          <a:solidFill>
            <a:srgbClr val="E0F7F6"/>
          </a:solidFill>
          <a:ln/>
        </p:spPr>
      </p:sp>
      <p:sp>
        <p:nvSpPr>
          <p:cNvPr id="54" name="Text 32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TAM: ₹21.3 Lakh Crore Indian Dairy Market  ·  45% already shifting to premium tested brands  ·  Consumers pay 35% more for transparent FSSAI lab results</a:t>
            </a:r>
            <a:endParaRPr lang="en-US" sz="850" dirty="0"/>
          </a:p>
        </p:txBody>
      </p:sp>
      <p:sp>
        <p:nvSpPr>
          <p:cNvPr id="5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6" name="Text 34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LactoSafe  |  API Avengers  |  Hackathon 2025–26</a:t>
            </a:r>
            <a:endParaRPr lang="en-US" sz="800" dirty="0"/>
          </a:p>
        </p:txBody>
      </p:sp>
      <p:sp>
        <p:nvSpPr>
          <p:cNvPr id="57" name="Text 35"/>
          <p:cNvSpPr/>
          <p:nvPr/>
        </p:nvSpPr>
        <p:spPr>
          <a:xfrm>
            <a:off x="8686800" y="4983480"/>
            <a:ext cx="411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From Pocket to Platform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45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8138160" cy="10972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2304288"/>
            <a:ext cx="256032" cy="256032"/>
          </a:xfrm>
          <a:prstGeom prst="oval">
            <a:avLst/>
          </a:prstGeom>
          <a:solidFill>
            <a:srgbClr val="00B4A6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822960"/>
            <a:ext cx="1920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822960"/>
            <a:ext cx="1920240" cy="34747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868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234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Pod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1481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6733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&amp; Families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18470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hardware + app. FSSAI compliance. 8-second scan.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280160" y="2194560"/>
            <a:ext cx="36576" cy="23774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5" name="Shape 13"/>
          <p:cNvSpPr/>
          <p:nvPr/>
        </p:nvSpPr>
        <p:spPr>
          <a:xfrm>
            <a:off x="3337560" y="2304288"/>
            <a:ext cx="256032" cy="256032"/>
          </a:xfrm>
          <a:prstGeom prst="oval">
            <a:avLst/>
          </a:prstGeom>
          <a:solidFill>
            <a:srgbClr val="1A3C6E"/>
          </a:solidFill>
          <a:ln/>
        </p:spPr>
      </p:sp>
      <p:sp>
        <p:nvSpPr>
          <p:cNvPr id="16" name="Shape 14"/>
          <p:cNvSpPr/>
          <p:nvPr/>
        </p:nvSpPr>
        <p:spPr>
          <a:xfrm>
            <a:off x="2560320" y="2834640"/>
            <a:ext cx="1920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0" y="2834640"/>
            <a:ext cx="1920240" cy="347472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0" y="2880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32461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Unit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51760" y="34930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₹15,000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51760" y="3685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&amp; Supermarkets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651760" y="3858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display. Multi-sample batching. Retailer dashboard.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29000" y="2432304"/>
            <a:ext cx="36576" cy="402336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0" y="2304288"/>
            <a:ext cx="256032" cy="256032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25" name="Shape 23"/>
          <p:cNvSpPr/>
          <p:nvPr/>
        </p:nvSpPr>
        <p:spPr>
          <a:xfrm>
            <a:off x="4709160" y="822960"/>
            <a:ext cx="1920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822960"/>
            <a:ext cx="192024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868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1234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Vending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1481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₹45,000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16733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ATM Integration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00600" y="18470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 automated dispensers. Real-time quality gate.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577840" y="2194560"/>
            <a:ext cx="36576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Shape 31"/>
          <p:cNvSpPr/>
          <p:nvPr/>
        </p:nvSpPr>
        <p:spPr>
          <a:xfrm>
            <a:off x="7635240" y="2304288"/>
            <a:ext cx="256032" cy="256032"/>
          </a:xfrm>
          <a:prstGeom prst="oval">
            <a:avLst/>
          </a:prstGeom>
          <a:solidFill>
            <a:srgbClr val="E53E3E"/>
          </a:solidFill>
          <a:ln/>
        </p:spPr>
      </p:sp>
      <p:sp>
        <p:nvSpPr>
          <p:cNvPr id="34" name="Shape 32"/>
          <p:cNvSpPr/>
          <p:nvPr/>
        </p:nvSpPr>
        <p:spPr>
          <a:xfrm>
            <a:off x="6858000" y="2834640"/>
            <a:ext cx="1920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0" y="2834640"/>
            <a:ext cx="1920240" cy="34747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2880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49440" y="32461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Fridge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949440" y="34930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49440" y="3685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 Brands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49440" y="3858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detection in smart fridges. OEM partnerships.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726680" y="2432304"/>
            <a:ext cx="36576" cy="40233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42" name="Shape 40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43" name="Text 41"/>
          <p:cNvSpPr/>
          <p:nvPr/>
        </p:nvSpPr>
        <p:spPr>
          <a:xfrm>
            <a:off x="411480" y="45720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Global Expansion: SE Asia &amp; Africa  ·  🤝 FSSAI MilkTrak 2025–26 Partnership  ·  🧬 Upgrade: Heavy Metal Detection (Pb, As, Hg, Cd)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LactoSafe  |  API Avengers  |  Hackathon 2025–26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686800" y="4983480"/>
            <a:ext cx="411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API AVENGERS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05840" y="5943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2025–26  ·  LactoSafe — Contactless Milk Adulteration Detection System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20040" y="1143000"/>
            <a:ext cx="416052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399032"/>
            <a:ext cx="777240" cy="777240"/>
          </a:xfrm>
          <a:prstGeom prst="oval">
            <a:avLst/>
          </a:prstGeom>
          <a:solidFill>
            <a:srgbClr val="00B4A6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3990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325880" y="1252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Lead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325880" y="1581912"/>
            <a:ext cx="3017520" cy="36576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1" name="Text 8"/>
          <p:cNvSpPr/>
          <p:nvPr/>
        </p:nvSpPr>
        <p:spPr>
          <a:xfrm>
            <a:off x="1325880" y="1691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 sensor integration, ESP32 firmware, Pod assembly &amp; calibration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09160" y="1143000"/>
            <a:ext cx="416052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1399032"/>
            <a:ext cx="777240" cy="777240"/>
          </a:xfrm>
          <a:prstGeom prst="oval">
            <a:avLst/>
          </a:prstGeom>
          <a:solidFill>
            <a:srgbClr val="1A3C6E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13990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715000" y="1252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715000" y="1581912"/>
            <a:ext cx="3017520" cy="36576"/>
          </a:xfrm>
          <a:prstGeom prst="rect">
            <a:avLst/>
          </a:prstGeom>
          <a:solidFill>
            <a:srgbClr val="1A3C6E"/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0" y="1691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model training, Random Forest classifier, regression concentration estimator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0040" y="2560320"/>
            <a:ext cx="416052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2816352"/>
            <a:ext cx="777240" cy="777240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2816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325880" y="26700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Developer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325880" y="2999232"/>
            <a:ext cx="301752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0"/>
          <p:cNvSpPr/>
          <p:nvPr/>
        </p:nvSpPr>
        <p:spPr>
          <a:xfrm>
            <a:off x="13258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frontend, Bluetooth integration, offline architecture, UI/UX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709160" y="2560320"/>
            <a:ext cx="416052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46320" y="2816352"/>
            <a:ext cx="777240" cy="777240"/>
          </a:xfrm>
          <a:prstGeom prst="oval">
            <a:avLst/>
          </a:prstGeom>
          <a:solidFill>
            <a:srgbClr val="E53E3E"/>
          </a:solidFill>
          <a:ln/>
        </p:spPr>
      </p:sp>
      <p:sp>
        <p:nvSpPr>
          <p:cNvPr id="26" name="Text 23"/>
          <p:cNvSpPr/>
          <p:nvPr/>
        </p:nvSpPr>
        <p:spPr>
          <a:xfrm>
            <a:off x="4846320" y="2816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5715000" y="26700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Business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715000" y="2999232"/>
            <a:ext cx="3017520" cy="36576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9" name="Text 26"/>
          <p:cNvSpPr/>
          <p:nvPr/>
        </p:nvSpPr>
        <p:spPr>
          <a:xfrm>
            <a:off x="571500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research, FSSAI regulatory mapping, pitch strategy, business model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20040" y="4133088"/>
            <a:ext cx="8503920" cy="685800"/>
          </a:xfrm>
          <a:prstGeom prst="rect">
            <a:avLst/>
          </a:prstGeom>
          <a:solidFill>
            <a:srgbClr val="E0F7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20040" y="4133088"/>
            <a:ext cx="73152" cy="6858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2" name="Text 29"/>
          <p:cNvSpPr/>
          <p:nvPr/>
        </p:nvSpPr>
        <p:spPr>
          <a:xfrm>
            <a:off x="502920" y="4178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"LactoSafe is not just a hackathon project — it is a response to a documented, ongoing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emergency that affects hundreds of millions of people daily.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exists. The regulatory framework is ready. The need is urgent."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B4A6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873752"/>
            <a:ext cx="201168" cy="20116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645920" y="48737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LACTOSAFE  ·  API AVENGERS  ·  Because Every Sip Should Be Safe.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274320" y="4983480"/>
            <a:ext cx="7315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LactoSafe  |  API Avengers  |  Hackathon 2025–26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8686800" y="4983480"/>
            <a:ext cx="411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LactoSafe — Contactless Milk Adulteration Detection</dc:title>
  <dc:subject>PptxGenJS Presentation</dc:subject>
  <dc:creator>API Avengers</dc:creator>
  <cp:lastModifiedBy>API Avengers</cp:lastModifiedBy>
  <cp:revision>1</cp:revision>
  <dcterms:created xsi:type="dcterms:W3CDTF">2026-03-24T13:04:37Z</dcterms:created>
  <dcterms:modified xsi:type="dcterms:W3CDTF">2026-03-24T13:04:37Z</dcterms:modified>
</cp:coreProperties>
</file>